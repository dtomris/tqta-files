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02e1c6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87936" y="1262211"/>
            <a:ext cx="616812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1050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TURAN QASTRO TURİZM AKADEMİYASI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487936" y="1639342"/>
            <a:ext cx="6168128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Aft>
                <a:spcPts val="1500"/>
              </a:spcAft>
              <a:buNone/>
            </a:pPr>
            <a:r>
              <a:rPr lang="en-US" sz="31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EĞİTİM PORTALLARI</a:t>
            </a:r>
            <a:endParaRPr lang="en-US" sz="3150" dirty="0"/>
          </a:p>
          <a:p>
            <a:pPr algn="ctr" indent="0" marL="0">
              <a:lnSpc>
                <a:spcPts val="3780"/>
              </a:lnSpc>
              <a:spcAft>
                <a:spcPts val="1500"/>
              </a:spcAft>
              <a:buNone/>
            </a:pPr>
            <a:r>
              <a:rPr lang="en-US" sz="31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ANALİZ RAPORU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4191000" y="2885033"/>
            <a:ext cx="762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487936" y="3208883"/>
            <a:ext cx="616812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8DA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McDonald's • Escoffier • Le Cordon Bleu • İSMEK • CTH Awards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487936" y="3707904"/>
            <a:ext cx="61681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225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Interaktif Öğrenme Sistemi Tasarımı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8322823" y="4768304"/>
            <a:ext cx="5407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Aralık 2025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8575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Yönetici Özeti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85750" y="1762274"/>
            <a:ext cx="4191000" cy="803672"/>
          </a:xfrm>
          <a:prstGeom prst="roundRect">
            <a:avLst>
              <a:gd name="adj" fmla="val 9481"/>
            </a:avLst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8150" y="1914674"/>
            <a:ext cx="39639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ARAŞTIRMA KAPSAMI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38150" y="2120354"/>
            <a:ext cx="396392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global sistem incelendi: McDonald's, Escoffier, Le Cordon Bleu, İSMEK, CTH Awards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285750" y="2680246"/>
            <a:ext cx="4191000" cy="1691580"/>
          </a:xfrm>
          <a:prstGeom prst="roundRect">
            <a:avLst>
              <a:gd name="adj" fmla="val 450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04800" y="2680246"/>
            <a:ext cx="0" cy="169158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6250" y="2832646"/>
            <a:ext cx="392506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TEMEL BULGULAR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76250" y="3038326"/>
            <a:ext cx="38481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+ PDF + Quiz hibrit modeli standart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Fotoğraf/video kanıt yükleme kritik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 bazlı eğitim yolları zorunlu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Gamification bağlılığı %40 artırıyor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67250" y="2190899"/>
            <a:ext cx="4191000" cy="657076"/>
          </a:xfrm>
          <a:prstGeom prst="roundRect">
            <a:avLst>
              <a:gd name="adj" fmla="val 11597"/>
            </a:avLst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19650" y="2343299"/>
            <a:ext cx="39639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ÖNERİLEN MODEL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819650" y="2548979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Escoffier + McDonald's + Gamification hibrit sistemi TQTA için en uygun yapı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667250" y="2962275"/>
            <a:ext cx="4191000" cy="980926"/>
          </a:xfrm>
          <a:prstGeom prst="roundRect">
            <a:avLst>
              <a:gd name="adj" fmla="val 7768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19650" y="3114675"/>
            <a:ext cx="39639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HEDEF SONUÇLAR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807712" y="3339405"/>
            <a:ext cx="121762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%85+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807712" y="3670846"/>
            <a:ext cx="121762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A8DA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Tamamlama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6153863" y="3339405"/>
            <a:ext cx="121762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CTH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153863" y="3670846"/>
            <a:ext cx="121762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A8DA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Sertifika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7500013" y="3339405"/>
            <a:ext cx="121762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500013" y="3670846"/>
            <a:ext cx="121762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A8DA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Destekli</a:t>
            </a:r>
            <a:endParaRPr lang="en-US" sz="6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19150"/>
          </a:xfrm>
          <a:prstGeom prst="rect">
            <a:avLst/>
          </a:prstGeom>
          <a:solidFill>
            <a:srgbClr val="DA29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85750"/>
            <a:ext cx="438169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McDonald's Hamburger University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285750" y="1746945"/>
            <a:ext cx="4191000" cy="1710630"/>
          </a:xfrm>
          <a:prstGeom prst="roundRect">
            <a:avLst>
              <a:gd name="adj" fmla="val 4454"/>
            </a:avLst>
          </a:prstGeom>
          <a:solidFill>
            <a:srgbClr val="FFF5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8150" y="1899345"/>
            <a:ext cx="39639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DA2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SİSTEM YAPISI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38150" y="2124075"/>
            <a:ext cx="38862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Saba Cloud LMS altyapısı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küresel kampüs, 28 dil desteği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300,000+ mezun (1961'den beri)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McWelcome pre-boarding sistemi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85750" y="3571875"/>
            <a:ext cx="4191000" cy="796230"/>
          </a:xfrm>
          <a:prstGeom prst="roundRect">
            <a:avLst>
              <a:gd name="adj" fmla="val 9570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8150" y="3724275"/>
            <a:ext cx="39639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C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EĞİTİM AKIŞI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38150" y="3949005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İşe Alım → ID Oluşturma → Rol Atama → Video/PDF Eğitim → POS Simülasyonu → Mentörlük → Sertifika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667250" y="1733699"/>
            <a:ext cx="4191000" cy="1710630"/>
          </a:xfrm>
          <a:prstGeom prst="roundRect">
            <a:avLst>
              <a:gd name="adj" fmla="val 445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19650" y="1886099"/>
            <a:ext cx="39639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 BAZLI EĞİTİM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819650" y="2110829"/>
            <a:ext cx="38862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 Member - Temel operasyon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- Eğitmen yetiştirme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Manager - Vardiya yönetimi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Manager - Genel yönetim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67250" y="3558629"/>
            <a:ext cx="4191000" cy="822722"/>
          </a:xfrm>
          <a:prstGeom prst="roundRect">
            <a:avLst>
              <a:gd name="adj" fmla="val 9262"/>
            </a:avLst>
          </a:prstGeom>
          <a:solidFill>
            <a:srgbClr val="DA29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19650" y="3711029"/>
            <a:ext cx="39639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KRİTİK BULGU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819650" y="3935760"/>
            <a:ext cx="396392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Eğitim eksikliği çalışan ayrılmalarının 1 numaralı nedeni. Ortalama istihdam süresi sadece 1 ay!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19150"/>
          </a:xfrm>
          <a:prstGeom prst="rect">
            <a:avLst/>
          </a:prstGeom>
          <a:solidFill>
            <a:srgbClr val="8B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85750"/>
            <a:ext cx="438169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Escoffier Online Culinary School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285750" y="1746945"/>
            <a:ext cx="4191000" cy="1710630"/>
          </a:xfrm>
          <a:prstGeom prst="roundRect">
            <a:avLst>
              <a:gd name="adj" fmla="val 4454"/>
            </a:avLst>
          </a:prstGeom>
          <a:solidFill>
            <a:srgbClr val="FFF8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8150" y="1899345"/>
            <a:ext cx="39639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HAFTALIK DÖNGÜ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38150" y="2124075"/>
            <a:ext cx="388620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İnteraktif dersler ve teknik videolar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Canlı Zoom oturumları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Pişirme ve adım adım fotoğraflama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Şef eğitmen video geri bildirimi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85750" y="3571875"/>
            <a:ext cx="4191000" cy="796230"/>
          </a:xfrm>
          <a:prstGeom prst="roundRect">
            <a:avLst>
              <a:gd name="adj" fmla="val 957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04800" y="3571875"/>
            <a:ext cx="0" cy="796230"/>
          </a:xfrm>
          <a:prstGeom prst="line">
            <a:avLst/>
          </a:prstGeom>
          <a:noFill/>
          <a:ln w="38100">
            <a:solidFill>
              <a:srgbClr val="8B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6250" y="3724275"/>
            <a:ext cx="392506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FOTOĞRAF DEĞERLENDİRME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76250" y="3949005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Şef eğitmenler fotoğraflardan pişirme sürecini analiz eder. Örn: Sosun yanmaya başladığı an görsel olarak tespit edilir!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67250" y="1899345"/>
            <a:ext cx="4191000" cy="796230"/>
          </a:xfrm>
          <a:prstGeom prst="roundRect">
            <a:avLst>
              <a:gd name="adj" fmla="val 9570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19650" y="2051745"/>
            <a:ext cx="39639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FLAVOR WHEEL ARACI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819650" y="2276475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Öğrenciler yemekleri standart kelime dağarcığıyla tanımlar: Aroma, Ağız Hissi, Tat kategorileri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667250" y="2809875"/>
            <a:ext cx="4191000" cy="1405830"/>
          </a:xfrm>
          <a:prstGeom prst="roundRect">
            <a:avLst>
              <a:gd name="adj" fmla="val 5420"/>
            </a:avLst>
          </a:prstGeom>
          <a:solidFill>
            <a:srgbClr val="8B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19650" y="2962275"/>
            <a:ext cx="39639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TQTA İÇİN REFERANS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819650" y="3187005"/>
            <a:ext cx="388620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Fotoğraf yükleme sistemi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Şef geri bildirim mekanizması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Haftalık döngü yapısı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19150"/>
          </a:xfrm>
          <a:prstGeom prst="rect">
            <a:avLst/>
          </a:prstGeom>
          <a:solidFill>
            <a:srgbClr val="8B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85750"/>
            <a:ext cx="48771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Escoffier: Me/Not Me Değerlendirme Sistemi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285750" y="1746945"/>
            <a:ext cx="4191000" cy="1710630"/>
          </a:xfrm>
          <a:prstGeom prst="roundRect">
            <a:avLst>
              <a:gd name="adj" fmla="val 445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8150" y="1899345"/>
            <a:ext cx="39639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NASIL ÇALIŞIR?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38150" y="2124075"/>
            <a:ext cx="38862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saniyelik hızlı anket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Görsel kartlarla Me/Not Me seçimi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Kariyer uygunluk analizi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Kişiselleştirilmiş öğrenme yolu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85750" y="3571875"/>
            <a:ext cx="4191000" cy="796230"/>
          </a:xfrm>
          <a:prstGeom prst="roundRect">
            <a:avLst>
              <a:gd name="adj" fmla="val 9570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8150" y="3724275"/>
            <a:ext cx="39639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ÖRNEK KARTLAR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38150" y="3949005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8DA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Feeling stuck, My current job drains me, Not achieving full potential, Try my hardest, An artist at heart, Coachable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667250" y="1661220"/>
            <a:ext cx="4191000" cy="2015430"/>
          </a:xfrm>
          <a:prstGeom prst="roundRect">
            <a:avLst>
              <a:gd name="adj" fmla="val 3781"/>
            </a:avLst>
          </a:prstGeom>
          <a:solidFill>
            <a:srgbClr val="FFF8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19650" y="1813620"/>
            <a:ext cx="39639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DEĞERLENDİRME KATEGORİLERİ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819650" y="2038350"/>
            <a:ext cx="3886200" cy="14859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Optimism: %77 - İyimser Gerçekçi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Leadership: %85 - Lider Potansiyeli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Community: %100 - Topluluk Odaklı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Craftsmanship: %78 - Ustalık Değeri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Mentorship: %63 - Eğitim Anlayışı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67250" y="3790950"/>
            <a:ext cx="4191000" cy="662880"/>
          </a:xfrm>
          <a:prstGeom prst="roundRect">
            <a:avLst>
              <a:gd name="adj" fmla="val 11495"/>
            </a:avLst>
          </a:prstGeom>
          <a:solidFill>
            <a:srgbClr val="8B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19650" y="3943350"/>
            <a:ext cx="39639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TQTA UYGULAMASI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819650" y="4168080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Kayıt öncesi öğrenci değerlendirmesi ve kariyer yönlendirmesi için benzer sistem öneriliyor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19150"/>
          </a:xfrm>
          <a:prstGeom prst="rect">
            <a:avLst/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85750"/>
            <a:ext cx="438169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Cordon Bleu ve CTH Awards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285750" y="1661220"/>
            <a:ext cx="4191000" cy="2015430"/>
          </a:xfrm>
          <a:prstGeom prst="roundRect">
            <a:avLst>
              <a:gd name="adj" fmla="val 3781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04800" y="1661220"/>
            <a:ext cx="0" cy="2015430"/>
          </a:xfrm>
          <a:prstGeom prst="line">
            <a:avLst/>
          </a:prstGeom>
          <a:noFill/>
          <a:ln w="381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6250" y="1813620"/>
            <a:ext cx="392506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CORDON BLEU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76250" y="2038350"/>
            <a:ext cx="3848100" cy="14859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 Diplôme: Cuisine + Pâtisserie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→ Intermediate → Superior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35+ enstitü, 20 ülke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Yılda 20,000 öğrenci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MOF unvanlı şef eğitmenler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85750" y="3790950"/>
            <a:ext cx="4191000" cy="662880"/>
          </a:xfrm>
          <a:prstGeom prst="roundRect">
            <a:avLst>
              <a:gd name="adj" fmla="val 11495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8150" y="3943350"/>
            <a:ext cx="39639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ONLİNE KURSLAR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38150" y="4168080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4-10 haftalık programlar, demonstrasyon + pratik uygulama yaklaşımı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67250" y="1661220"/>
            <a:ext cx="4191000" cy="2015430"/>
          </a:xfrm>
          <a:prstGeom prst="roundRect">
            <a:avLst>
              <a:gd name="adj" fmla="val 3781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19650" y="1813620"/>
            <a:ext cx="39639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CTH AWARDS (UK Ofqual)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819650" y="2038350"/>
            <a:ext cx="3886200" cy="14859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2: Certificate in Culinary Skills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3: Foundation Diploma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4: Tourism Management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5: Advanced Diploma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Yılda 7000+ sertifika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67250" y="3790950"/>
            <a:ext cx="4191000" cy="662880"/>
          </a:xfrm>
          <a:prstGeom prst="roundRect">
            <a:avLst>
              <a:gd name="adj" fmla="val 11495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19650" y="3943350"/>
            <a:ext cx="39639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TQTA ORTAKLIĞI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819650" y="4168080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8DA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CTH sertifikasyonu TQTA bünyesinde sunulacak - Uluslararası geçerlilikte diploma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19150"/>
          </a:xfrm>
          <a:prstGeom prst="rect">
            <a:avLst/>
          </a:prstGeom>
          <a:solidFill>
            <a:srgbClr val="E91E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85750"/>
            <a:ext cx="438169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İSMEK - Yerel Model Analizi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285750" y="1661220"/>
            <a:ext cx="4191000" cy="2015430"/>
          </a:xfrm>
          <a:prstGeom prst="roundRect">
            <a:avLst>
              <a:gd name="adj" fmla="val 3781"/>
            </a:avLst>
          </a:prstGeom>
          <a:solidFill>
            <a:srgbClr val="FDF2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8150" y="1813620"/>
            <a:ext cx="39639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E91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RAKAMLARLA İSMEK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38150" y="2038350"/>
            <a:ext cx="3886200" cy="14859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Ana Dal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Farklı Alan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1500+ Eğitim Programı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Milyon+ Mezun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 Eğitim Merkezi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85750" y="3790950"/>
            <a:ext cx="4191000" cy="662880"/>
          </a:xfrm>
          <a:prstGeom prst="roundRect">
            <a:avLst>
              <a:gd name="adj" fmla="val 11495"/>
            </a:avLst>
          </a:prstGeom>
          <a:solidFill>
            <a:srgbClr val="E91E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8150" y="3943350"/>
            <a:ext cx="39639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GASTRONOMİ BÖLÜMÜ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38150" y="4168080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Bölüm, 119 Program - Gastronomi ve Mutfak Sanatları alanında kapsamlı eğitim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667250" y="1442145"/>
            <a:ext cx="4191000" cy="1710630"/>
          </a:xfrm>
          <a:prstGeom prst="roundRect">
            <a:avLst>
              <a:gd name="adj" fmla="val 445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19650" y="1594545"/>
            <a:ext cx="39639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EĞİTİM KATEGORİLERİ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819650" y="1819275"/>
            <a:ext cx="38862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Mesleki ve Teknik: 155 Program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Kişisel Gelişim: 43 Program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Güzel Sanatlar: 54 Program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Sanatları: 77 Program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67250" y="3267075"/>
            <a:ext cx="4191000" cy="1405830"/>
          </a:xfrm>
          <a:prstGeom prst="roundRect">
            <a:avLst>
              <a:gd name="adj" fmla="val 5420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19650" y="3419475"/>
            <a:ext cx="39639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E91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TQTA İÇİN REFERANS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819650" y="3644205"/>
            <a:ext cx="388620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A8DA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yapısı ve navigasyon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A8DA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 uygulama entegrasyonu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A8DA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Hibrit eğitim modeli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105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66700"/>
            <a:ext cx="438169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TQTA Önerilen Sistem Mimarisi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285750" y="1688902"/>
            <a:ext cx="4191000" cy="1946821"/>
          </a:xfrm>
          <a:prstGeom prst="roundRect">
            <a:avLst>
              <a:gd name="adj" fmla="val 3914"/>
            </a:avLst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19100" y="1822252"/>
            <a:ext cx="4002786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HİBRİT SİSTEM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9100" y="2016472"/>
            <a:ext cx="3924300" cy="14859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Kayıt ve Me/Not Me Anketi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 Bazlı Eğitim Ataması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Modüler Eğitim: Video + PDF + Quiz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Fotoğraf/Video Kanıt Yükleme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CTH Sertifikasyonu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85750" y="3730972"/>
            <a:ext cx="4191000" cy="580876"/>
          </a:xfrm>
          <a:prstGeom prst="roundRect">
            <a:avLst>
              <a:gd name="adj" fmla="val 1311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9100" y="3864322"/>
            <a:ext cx="4002786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TEKNOLOJİ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9100" y="4058543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LMS: Moodle | Video: Vimeo | Quiz: H5P | AI: Claude | Mobil: React Native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4667250" y="1841302"/>
            <a:ext cx="4191000" cy="1642021"/>
          </a:xfrm>
          <a:prstGeom prst="roundRect">
            <a:avLst>
              <a:gd name="adj" fmla="val 4641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00600" y="1974652"/>
            <a:ext cx="4002786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 BAZLI EĞİTİM YOLLARI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00600" y="2168872"/>
            <a:ext cx="39243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Aşpaz: 12 hafta, 48 video, 24 quiz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Garson: 8 hafta, 32 video, 16 quiz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Barista: 6 hafta, 24 video, 12 quiz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Housekeeping: 6 hafta, 24 video, 12 quiz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67250" y="3578572"/>
            <a:ext cx="4191000" cy="580876"/>
          </a:xfrm>
          <a:prstGeom prst="roundRect">
            <a:avLst>
              <a:gd name="adj" fmla="val 13118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00600" y="3711922"/>
            <a:ext cx="4002786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DESTEKLİ ÖĞRENME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00600" y="3906143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A8DA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Kişiselleştirilmiş ipuçları, hata analizi, öğrenci hızına göre optimizasyon</a:t>
            </a:r>
            <a:endParaRPr lang="en-US" sz="6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1915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85750"/>
            <a:ext cx="438169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Gamification Sistemi Tasarımı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285750" y="1746945"/>
            <a:ext cx="4191000" cy="796230"/>
          </a:xfrm>
          <a:prstGeom prst="roundRect">
            <a:avLst>
              <a:gd name="adj" fmla="val 9570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8150" y="1899345"/>
            <a:ext cx="39639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ARAŞTIRMA BULGULARI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38150" y="2124075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8DA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Mesleki eğitimde gamification öğrenci katılımını %40 artırıyor. Basit ve anlaşılır sistemler meslek lisesi öğrencileri için daha etkili.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85750" y="2657475"/>
            <a:ext cx="4191000" cy="1710630"/>
          </a:xfrm>
          <a:prstGeom prst="roundRect">
            <a:avLst>
              <a:gd name="adj" fmla="val 4454"/>
            </a:avLst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8150" y="2809875"/>
            <a:ext cx="39639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ROZET SİSTEMİ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38150" y="3034605"/>
            <a:ext cx="38862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Knife Master - Bıçak teknikleri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Hygiene Pro - Hijyen uzmanı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Champion - Hız şampiyonu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Player - Takım oyuncusu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67250" y="1289745"/>
            <a:ext cx="4191000" cy="1710630"/>
          </a:xfrm>
          <a:prstGeom prst="roundRect">
            <a:avLst>
              <a:gd name="adj" fmla="val 4454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19650" y="1442145"/>
            <a:ext cx="39639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SEVİYE SİSTEMİ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819650" y="1666875"/>
            <a:ext cx="38862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Çırak (Apprentice)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Kalfa (Journeyman)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Usta (Master)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Şef (Chef)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67250" y="3114675"/>
            <a:ext cx="4191000" cy="1710630"/>
          </a:xfrm>
          <a:prstGeom prst="roundRect">
            <a:avLst>
              <a:gd name="adj" fmla="val 445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19650" y="3267075"/>
            <a:ext cx="39639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PUAN VE LEADERBOARD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819650" y="3491805"/>
            <a:ext cx="38862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 kazanımı her aktivitede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Günlük giriş bonusu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Streak ödülleri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Sınıf ve okul sıralaması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1915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85750"/>
            <a:ext cx="438169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Öğrenci Yolculuğu Haritası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285750" y="1442145"/>
            <a:ext cx="4191000" cy="1710630"/>
          </a:xfrm>
          <a:prstGeom prst="roundRect">
            <a:avLst>
              <a:gd name="adj" fmla="val 445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8150" y="1594545"/>
            <a:ext cx="39639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GÜNLÜK ÖĞRENME HEDEF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38150" y="1819275"/>
            <a:ext cx="38862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Süre: 15-20 dakika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Quiz: 5 soru (kısa ve öz)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Video: 5-10 dakika maksimum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Anlık geri bildirim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85750" y="3267075"/>
            <a:ext cx="4191000" cy="1405830"/>
          </a:xfrm>
          <a:prstGeom prst="roundRect">
            <a:avLst>
              <a:gd name="adj" fmla="val 5420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8150" y="3419475"/>
            <a:ext cx="39639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MODÜL İLERLEMESİ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38150" y="3644205"/>
            <a:ext cx="388620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A8DA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Haftada 1 modül tamamlama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A8DA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Hedef tamamlama oranı: %85+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A8DA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Başarı kriteri: Pratik kanıt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67250" y="1508820"/>
            <a:ext cx="4191000" cy="2320230"/>
          </a:xfrm>
          <a:prstGeom prst="roundRect">
            <a:avLst>
              <a:gd name="adj" fmla="val 3284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19650" y="1661220"/>
            <a:ext cx="39639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ÖĞRENME DÖNGÜSÜ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819650" y="1885950"/>
            <a:ext cx="3886200" cy="17907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izle ve not al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quiz tamamla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Pratik uygulama yap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Fotoğraf/video yükle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Şef değerlendirmesi al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Rozet kazan ve ilerle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67250" y="3943350"/>
            <a:ext cx="4191000" cy="662880"/>
          </a:xfrm>
          <a:prstGeom prst="roundRect">
            <a:avLst>
              <a:gd name="adj" fmla="val 11495"/>
            </a:avLst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19650" y="4095750"/>
            <a:ext cx="39639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KRİTİK BAŞARI FAKTÖRLERİ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819650" y="4320480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Kısa içerikler, anlık geri bildirim, görsel başarı rozetleri, zorlamayan tempo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1915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85750"/>
            <a:ext cx="438169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Yönetici Paneli Özellikleri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285750" y="1289745"/>
            <a:ext cx="4191000" cy="2015430"/>
          </a:xfrm>
          <a:prstGeom prst="roundRect">
            <a:avLst>
              <a:gd name="adj" fmla="val 378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8150" y="1442145"/>
            <a:ext cx="39639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GERÇEK ZAMANLI TAKİP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38150" y="1666875"/>
            <a:ext cx="3886200" cy="14859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Öğrenci ilerleme yüzdeleri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izleme süreleri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sonuçları ve hata analizi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Kanıt yükleme durumları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Eğitmen değerlendirme takibi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85750" y="3419475"/>
            <a:ext cx="4191000" cy="1405830"/>
          </a:xfrm>
          <a:prstGeom prst="roundRect">
            <a:avLst>
              <a:gd name="adj" fmla="val 5420"/>
            </a:avLst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8150" y="3571875"/>
            <a:ext cx="39639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RAPORLAMA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38150" y="3796605"/>
            <a:ext cx="388620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Günlük/Haftalık/Aylık rapor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Export: Excel, PDF, API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 bazlı başarı analizi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67250" y="1442145"/>
            <a:ext cx="4191000" cy="1710630"/>
          </a:xfrm>
          <a:prstGeom prst="roundRect">
            <a:avLst>
              <a:gd name="adj" fmla="val 4454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19650" y="1594545"/>
            <a:ext cx="39639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ANALİTİK ARAÇLAR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819650" y="1819275"/>
            <a:ext cx="38862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çok zorlanılan konular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Terk oranı analizi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Başarı tahmin modelleri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Karşılaştırmalı performans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67250" y="3267075"/>
            <a:ext cx="4191000" cy="1405830"/>
          </a:xfrm>
          <a:prstGeom prst="roundRect">
            <a:avLst>
              <a:gd name="adj" fmla="val 5420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19650" y="3419475"/>
            <a:ext cx="39639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BİLDİRİM SİSTEMİ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819650" y="3644205"/>
            <a:ext cx="388620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A8DA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Düşük performans uyarıları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A8DA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Tamamlama bildirimleri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A8DA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Eğitmen atama hatırlatmaları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105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66700"/>
            <a:ext cx="438169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 Bazlı Modül Yapısı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285750" y="2430959"/>
            <a:ext cx="4210050" cy="512266"/>
          </a:xfrm>
          <a:prstGeom prst="roundRect">
            <a:avLst>
              <a:gd name="adj" fmla="val 11156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0050" y="2545259"/>
            <a:ext cx="4061079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AŞPAZ - 12 hafta | 48 video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00050" y="2708970"/>
            <a:ext cx="406107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A8DA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Mutfak hijyeni, bıçak teknikleri, pişirme yöntemleri, sos yapımı, menü mühendisliği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285750" y="3019425"/>
            <a:ext cx="4210050" cy="512266"/>
          </a:xfrm>
          <a:prstGeom prst="roundRect">
            <a:avLst>
              <a:gd name="adj" fmla="val 1115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0050" y="3133725"/>
            <a:ext cx="4061079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GARSON - 8 hafta | 32 video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00050" y="3297436"/>
            <a:ext cx="406107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Servis adabı, sipariş alma, misafir iletişimi, şikayet yönetimi, POS kullanımı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4648200" y="2430959"/>
            <a:ext cx="4210050" cy="512266"/>
          </a:xfrm>
          <a:prstGeom prst="roundRect">
            <a:avLst>
              <a:gd name="adj" fmla="val 11156"/>
            </a:avLst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62500" y="2545259"/>
            <a:ext cx="4061079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BARİSTA - 6 hafta | 24 video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762500" y="2708970"/>
            <a:ext cx="406107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Kahve çekirdeği bilgisi, espresso teknikleri, latte art, makine bakımı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4648200" y="3019425"/>
            <a:ext cx="4210050" cy="512266"/>
          </a:xfrm>
          <a:prstGeom prst="roundRect">
            <a:avLst>
              <a:gd name="adj" fmla="val 11156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62500" y="3133725"/>
            <a:ext cx="4061079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HOUSEKEEPING - 6 hafta | 24 video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762500" y="3297436"/>
            <a:ext cx="406107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Oda hazırlama, hijyen protokolleri, misafir gizliliği, turndown servisi</a:t>
            </a:r>
            <a:endParaRPr lang="en-US" sz="6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105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66700"/>
            <a:ext cx="438169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Aylık Uygulama Yol Haritası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285750" y="2430959"/>
            <a:ext cx="4229100" cy="512266"/>
          </a:xfrm>
          <a:prstGeom prst="roundRect">
            <a:avLst>
              <a:gd name="adj" fmla="val 11156"/>
            </a:avLst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0050" y="2545259"/>
            <a:ext cx="4080510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 1: AY 1-2 - MVP Portal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00050" y="2708970"/>
            <a:ext cx="408051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LMS altyapısı, UI/UX tasarımı, Me/Not Me anketi, ilk 10 video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285750" y="3019425"/>
            <a:ext cx="4229100" cy="512266"/>
          </a:xfrm>
          <a:prstGeom prst="roundRect">
            <a:avLst>
              <a:gd name="adj" fmla="val 11156"/>
            </a:avLst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0050" y="3133725"/>
            <a:ext cx="4080510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 2: AY 3-4 - 2 Modül + Pilot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00050" y="3297436"/>
            <a:ext cx="408051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Aşpaz ve Garson modülleri, fotoğraf yükleme, 50 öğrenci pilot test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4629150" y="2430959"/>
            <a:ext cx="4229100" cy="512266"/>
          </a:xfrm>
          <a:prstGeom prst="roundRect">
            <a:avLst>
              <a:gd name="adj" fmla="val 11156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43450" y="2545259"/>
            <a:ext cx="4080510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 3: AY 5-6 - Tam Platform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743450" y="2708970"/>
            <a:ext cx="408051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Barista ve Housekeeping modülleri, AI ipucu sistemi, admin dashboard, mobil app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4629150" y="3019425"/>
            <a:ext cx="4229100" cy="512266"/>
          </a:xfrm>
          <a:prstGeom prst="roundRect">
            <a:avLst>
              <a:gd name="adj" fmla="val 11156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43450" y="3133725"/>
            <a:ext cx="4080510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 4: AY 7+ - Canlı Sistem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743450" y="3297436"/>
            <a:ext cx="408051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A8DA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Resmi lansman, eğitmen eğitimi, pazarlama, ilk sertifika töreni</a:t>
            </a:r>
            <a:endParaRPr lang="en-US" sz="6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e8111f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71282" y="633561"/>
            <a:ext cx="52014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050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SONUÇ VE ÖNERİLER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971282" y="972592"/>
            <a:ext cx="5201436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spcAft>
                <a:spcPts val="18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TQTA için Önerilen Model:</a:t>
            </a:r>
            <a:endParaRPr lang="en-US" sz="2400" dirty="0"/>
          </a:p>
          <a:p>
            <a:pPr algn="ctr" indent="0" marL="0">
              <a:lnSpc>
                <a:spcPts val="3120"/>
              </a:lnSpc>
              <a:spcAft>
                <a:spcPts val="18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Escoffier + McDonald's + Gamification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191000" y="1993553"/>
            <a:ext cx="762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2022277" y="2260253"/>
            <a:ext cx="5099447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A8DA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+ PDF + Quiz hibrit eğitim modeli</a:t>
            </a:r>
            <a:endParaRPr lang="en-US" sz="1350" dirty="0"/>
          </a:p>
          <a:p>
            <a:pPr algn="ctr"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A8DA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Fotoğraf/video kanıt yükleme sistemi</a:t>
            </a:r>
            <a:endParaRPr lang="en-US" sz="1350" dirty="0"/>
          </a:p>
          <a:p>
            <a:pPr algn="ctr"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A8DA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 bazlı kişiselleştirilmiş öğrenme yolları</a:t>
            </a:r>
            <a:endParaRPr lang="en-US" sz="1350" dirty="0"/>
          </a:p>
          <a:p>
            <a:pPr algn="ctr"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A8DA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Meslek lisesi öğrencileri için gamification</a:t>
            </a:r>
            <a:endParaRPr lang="en-US" sz="1350" dirty="0"/>
          </a:p>
          <a:p>
            <a:pPr algn="ctr"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A8DA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CTH uluslararası sertifikasyon ortaklığı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971282" y="4336703"/>
            <a:ext cx="520143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225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Turan Qastro Turizm Akademiyası - Aralık 2025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TQTA Eğitim Portalları Araştırma Raporu</dc:title>
  <dc:subject>Global Aşçılık Okulları ve Eğitim Sistemleri Analizi</dc:subject>
  <dc:creator>TQTA</dc:creator>
  <cp:lastModifiedBy>TQTA</cp:lastModifiedBy>
  <cp:revision>1</cp:revision>
  <dcterms:created xsi:type="dcterms:W3CDTF">2025-12-24T19:38:22Z</dcterms:created>
  <dcterms:modified xsi:type="dcterms:W3CDTF">2025-12-24T19:38:22Z</dcterms:modified>
</cp:coreProperties>
</file>